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RESEARCH PROJECT · V1.0.0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ATM-Net++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Anatomy-Aware Multimodal Lumbar Spine MRI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</a:rPr>
              <a:t>Diagnostic &amp; Segmentation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37560"/>
            <a:ext cx="4572000" cy="254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618488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3683000"/>
            <a:ext cx="16184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MRI Segmentation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3657600"/>
            <a:ext cx="2139696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368300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Disease Classification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81144" y="3657600"/>
            <a:ext cx="1444752" cy="256032"/>
          </a:xfrm>
          <a:prstGeom prst="rect">
            <a:avLst/>
          </a:prstGeom>
          <a:solidFill>
            <a:srgbClr val="10283C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68300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Explainability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3657600"/>
            <a:ext cx="1965960" cy="256032"/>
          </a:xfrm>
          <a:prstGeom prst="rect">
            <a:avLst/>
          </a:prstGeom>
          <a:solidFill>
            <a:srgbClr val="2828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68300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Clinical PDF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6" y="3657600"/>
            <a:ext cx="1444752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683000"/>
            <a:ext cx="1444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SPIDER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Clinical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141732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486400" cy="355600"/>
          </a:xfrm>
          <a:prstGeom prst="rect">
            <a:avLst/>
          </a:prstGeom>
          <a:solidFill>
            <a:srgbClr val="45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9520"/>
            <a:ext cx="5303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🏥  Manual Interpretation is Slow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95120"/>
            <a:ext cx="526694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Radiologists trace vertebrae, IVDs, and spinal canal across dozens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of MRI slices — time-consuming, subjective, high inter-reader variability.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5486400" cy="141732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5486400" cy="355600"/>
          </a:xfrm>
          <a:prstGeom prst="rect">
            <a:avLst/>
          </a:prstGeom>
          <a:solidFill>
            <a:srgbClr val="FFA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94000"/>
            <a:ext cx="5303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Multi-modal Data Underused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149600"/>
            <a:ext cx="526694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Clinical reports, demographics, and MRI images are rarely fused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systematically, leaving valuable diagnostic signal untapped.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188720"/>
            <a:ext cx="5486400" cy="173736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5486400" cy="355600"/>
          </a:xfrm>
          <a:prstGeom prst="rect">
            <a:avLst/>
          </a:prstGeom>
          <a:solidFill>
            <a:srgbClr val="1AC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239520"/>
            <a:ext cx="5303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🎯  What We 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1595120"/>
            <a:ext cx="52669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Pixel-level segmentation of vertebrae &amp; discs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Automatic disease detection &amp; severity grading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Explainable, trustworthy AI predictions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Fusion of MRI + text reports + demographics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Clinician-ready PDF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63240"/>
            <a:ext cx="5486400" cy="164592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063240"/>
            <a:ext cx="5486400" cy="355600"/>
          </a:xfrm>
          <a:prstGeom prst="rect">
            <a:avLst/>
          </a:prstGeom>
          <a:solidFill>
            <a:srgbClr val="95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114040"/>
            <a:ext cx="5303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💡  ATM-Net++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3469640"/>
            <a:ext cx="52669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Production-grade clinical AI platform combining MRI, radiology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text and patient demographics to deliver segmentation maps,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disease labels, severity scores, and structured reports —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all with Grad-CAM explainability.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Numbers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51760" cy="164592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B82F6"/>
                </a:solidFill>
              </a:rPr>
              <a:t>&gt;0.90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Target Dice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651760" cy="164592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Segmentation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2651760" cy="164592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B5CF6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Disease Categories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280160"/>
            <a:ext cx="2651760" cy="164592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447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945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SPIDER MRI Volumes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54680"/>
            <a:ext cx="2651760" cy="141732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Input Modalities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154680"/>
            <a:ext cx="2651760" cy="141732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Docker Micro-services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154680"/>
            <a:ext cx="2651760" cy="141732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8B5CF6"/>
                </a:solidFill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Training Epochs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154680"/>
            <a:ext cx="2651760" cy="141732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3310128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5-fold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38862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Cross-Validation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SPIDER Dataset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160020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03520" cy="355600"/>
          </a:xfrm>
          <a:prstGeom prst="rect">
            <a:avLst/>
          </a:prstGeom>
          <a:solidFill>
            <a:srgbClr val="45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9520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📦  Dataset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95120"/>
            <a:ext cx="50840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447 MRI volumes (T1 &amp; T2 sagittal)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Paired images + masks in .mha format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overview.csv — acquisition metadata + sex/subset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radiological_gradings.csv — per-IVD pathology grades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26080"/>
            <a:ext cx="5303520" cy="160020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5303520" cy="355600"/>
          </a:xfrm>
          <a:prstGeom prst="rect">
            <a:avLst/>
          </a:prstGeom>
          <a:solidFill>
            <a:srgbClr val="FFA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76880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🔀  Dataset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332480"/>
            <a:ext cx="50840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70% Train  ·  15% Validation  ·  15% Test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5-fold cross-validation strategy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Both T1 and T2 modalities used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Image resolution: 512 × 512 pixels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188720"/>
            <a:ext cx="5943600" cy="338328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2344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Label 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5727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SPIDER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5727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5727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ATM-Net++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90195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190195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Background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0195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22311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20–24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2311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L1 – L5 vertebrae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23113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4 –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25603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5603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25603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288950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119–122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88950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L1/L2 – L4/L5 discs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288950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13 –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21868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21868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L5/S1 disc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21868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3547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201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547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Spinal canal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354787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87705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387705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Spinal 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87705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</a:rPr>
              <a:t>MRI Image
(T1/T2, 512×512)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87168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67004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</a:rPr>
              <a:t>Radiology Text
(report)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02736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785616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</a:rPr>
              <a:t>Demographics
(age, sex, BMI)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5CF6"/>
                </a:solidFill>
              </a:rPr>
              <a:t>Encoders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371600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1554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5CF6"/>
                </a:solidFill>
              </a:rPr>
              <a:t>Swin UNETR
768-dim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487168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67004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5CF6"/>
                </a:solidFill>
              </a:rPr>
              <a:t>Bio-ClinicalBERT
CLS 768-dim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602736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785616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5CF6"/>
                </a:solidFill>
              </a:rPr>
              <a:t>Demographic MLP
256-dim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Fusion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1371600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1554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Multimodal Fusion
ATPG · HASF · CCAE
4 layers · 8 heads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22860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F4444"/>
                </a:solidFill>
              </a:rPr>
              <a:t>Outputs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1371600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554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Segmentation
20-class mask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2487168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0" y="267004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Disease Class
7 categories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602736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3785616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Severity + Grade
Mild/Mod/Severe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718304"/>
            <a:ext cx="2377440" cy="1005840"/>
          </a:xfrm>
          <a:prstGeom prst="rect">
            <a:avLst/>
          </a:prstGeom>
          <a:solidFill>
            <a:srgbClr val="0E18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90118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F4444"/>
                </a:solidFill>
              </a:rPr>
              <a:t>PDF Report
+ Grad-CAM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NOVEL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Makes ATM-Net++ 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14884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577840" cy="355600"/>
          </a:xfrm>
          <a:prstGeom prst="rect">
            <a:avLst/>
          </a:prstGeom>
          <a:solidFill>
            <a:srgbClr val="45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952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① ATPG — Anatomy-Text Prompt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95120"/>
            <a:ext cx="535838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Generates anatomy-aware text prompts guided by image features.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Bridges visual and language spaces by conditioning BERT token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attention on spatial encoder activations.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16 learnable prompts  ·  Cross-modal conditioning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577840" cy="214884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577840" cy="355600"/>
          </a:xfrm>
          <a:prstGeom prst="rect">
            <a:avLst/>
          </a:prstGeom>
          <a:solidFill>
            <a:srgbClr val="95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952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② HASF — Hierarchical Anatomy-Aware Semantic 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595120"/>
            <a:ext cx="535838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Fuses image, text and demographic embeddings through multi-head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cross-attention at multiple hierarchical scales.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Preserves both global context and local anatomy detail.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8 attention heads  ·  4 transformer 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5577840" cy="214884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5577840" cy="355600"/>
          </a:xfrm>
          <a:prstGeom prst="rect">
            <a:avLst/>
          </a:prstGeom>
          <a:solidFill>
            <a:srgbClr val="1AC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0840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③ CCAE — Cross-modal Context-Aware Enhancement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064000"/>
            <a:ext cx="535838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FiLM-style modulation: injects fused multimodal context into decoder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feature maps via learned scale and shift parameters.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Refines segmentation using semantic knowledge from text &amp; demographics.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FiLM conditioning  ·  Decoder injection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577840" cy="214884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577840" cy="355600"/>
          </a:xfrm>
          <a:prstGeom prst="rect">
            <a:avLst/>
          </a:prstGeom>
          <a:solidFill>
            <a:srgbClr val="FFA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70840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④ Joint Contrastive Image-Text Alignment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064000"/>
            <a:ext cx="535838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NT-Xent contrastive loss aligns image and text feature projections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in a shared 256-dim embedding space.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Improves cross-modal grounding without extra labeled pairs.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NT-Xent loss  ·  256-dim shared 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Model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749039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3749039" cy="355600"/>
          </a:xfrm>
          <a:prstGeom prst="rect">
            <a:avLst/>
          </a:prstGeom>
          <a:solidFill>
            <a:srgbClr val="45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9520"/>
            <a:ext cx="3566159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🖼  Image Encoder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595120"/>
            <a:ext cx="35295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</a:rPr>
              <a:t>• Swin UNETR backbone (MONAI)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Residual blocks + attention gates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Deep supervision (3 levels)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Feature size 48 → 768-dim global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Lightweight U-Net fallback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399" y="1188720"/>
            <a:ext cx="3749039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399" y="1188720"/>
            <a:ext cx="3749039" cy="355600"/>
          </a:xfrm>
          <a:prstGeom prst="rect">
            <a:avLst/>
          </a:prstGeom>
          <a:solidFill>
            <a:srgbClr val="95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39" y="1239520"/>
            <a:ext cx="3566159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📝  Text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7" y="1595120"/>
            <a:ext cx="35295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</a:rPr>
              <a:t>• Bio-ClinicalBERT (Alsentzer 2019)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First 6 layers frozen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Fine-tuned classification head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CLS embedding: 768-dim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Max sequence: 512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58" y="1188720"/>
            <a:ext cx="3749039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58" y="1188720"/>
            <a:ext cx="3749039" cy="355600"/>
          </a:xfrm>
          <a:prstGeom prst="rect">
            <a:avLst/>
          </a:prstGeom>
          <a:solidFill>
            <a:srgbClr val="1AC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198" y="1239520"/>
            <a:ext cx="3566159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👤  Demographic 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6" y="1595120"/>
            <a:ext cx="35295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</a:rPr>
              <a:t>• 8-dim input vector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3-layer MLP: 64 → 128 → 256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Dropout 0.2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Encodes age, sex, BMI, height,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weight, symptoms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66160"/>
            <a:ext cx="3749039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66160"/>
            <a:ext cx="3749039" cy="355600"/>
          </a:xfrm>
          <a:prstGeom prst="rect">
            <a:avLst/>
          </a:prstGeom>
          <a:solidFill>
            <a:srgbClr val="FFA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616960"/>
            <a:ext cx="3566159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🧩  Multi-Task Heads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3972560"/>
            <a:ext cx="35295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</a:rPr>
              <a:t>• Disease classification (7-class)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Severity: 3-class + regression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Level localization (8 IVDs)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IVD pathology + Pfirrmann grade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All on fused 512-dim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399" y="3566160"/>
            <a:ext cx="3749039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399" y="3566160"/>
            <a:ext cx="3749039" cy="355600"/>
          </a:xfrm>
          <a:prstGeom prst="rect">
            <a:avLst/>
          </a:prstGeom>
          <a:solidFill>
            <a:srgbClr val="F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616960"/>
            <a:ext cx="3566159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📄  Report Generator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7" y="3972560"/>
            <a:ext cx="35295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</a:rPr>
              <a:t>• NeuralReportHead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Template + neural hybrid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Findings, impression, recommendation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ReportLab PDF rendering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Radiologist-style 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58" y="3566160"/>
            <a:ext cx="3749039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58" y="3566160"/>
            <a:ext cx="3749039" cy="355600"/>
          </a:xfrm>
          <a:prstGeom prst="rect">
            <a:avLst/>
          </a:prstGeom>
          <a:solidFill>
            <a:srgbClr val="10C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198" y="3616960"/>
            <a:ext cx="3566159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🔍  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6" y="3972560"/>
            <a:ext cx="3529583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</a:rPr>
              <a:t>• Grad-CAM (Selvaraju 2017)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Attention Rollout (Abnar 2020)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Segmentation overlay (α=0.4)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Disease localization heatmaps</a:t>
            </a:r>
          </a:p>
          <a:p>
            <a:pPr algn="l"/>
            <a:r>
              <a:rPr sz="1100">
                <a:solidFill>
                  <a:srgbClr val="E2E8F0"/>
                </a:solidFill>
              </a:rPr>
              <a:t>• Base64 encoding for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Training Configuration &amp; Losses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182880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577840" cy="355600"/>
          </a:xfrm>
          <a:prstGeom prst="rect">
            <a:avLst/>
          </a:prstGeom>
          <a:solidFill>
            <a:srgbClr val="45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952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⚙️  Optimizer &amp;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95120"/>
            <a:ext cx="5358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AdamW  ·  lr=1e-4  ·  weight_decay=1e-5  ·  β=(0.9, 0.999)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Cosine LR with 10-epoch linear warmup, min LR=1e-6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200 epochs  ·  batch size 4  ·  grad accumulation ×4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Mixed precision FP16 (torch.cuda.amp)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Early stopping: patience=30 on val Dice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5577840" cy="210312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5577840" cy="355600"/>
          </a:xfrm>
          <a:prstGeom prst="rect">
            <a:avLst/>
          </a:prstGeom>
          <a:solidFill>
            <a:srgbClr val="FFA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548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🔁  Data 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561080"/>
            <a:ext cx="53583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Random rotation ±15°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Horizontal/vertical flip (p=0.5)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Elastic deformation (α=100, σ=10)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Intensity shift ±0.1, scale ±0.1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Gaussian noise σ=0.01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Random crop 480×480, zoom 0.9–1.1×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402336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📉  Loss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727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Loss Component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15727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385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Segmentation Dice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9385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1.0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3042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Segmentation Focal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23042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6700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Segmentation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26700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358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Disease Classification (Focal 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303580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0.3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4015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Severity Estimation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61320" y="340156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767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Level Localization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37673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1330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Report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413308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4988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Contrastive NT-Xent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449884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0B981"/>
                </a:solidFill>
              </a:rPr>
              <a:t>0.1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Metrics &amp; Evaluation Protocol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182880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577840" cy="355600"/>
          </a:xfrm>
          <a:prstGeom prst="rect">
            <a:avLst/>
          </a:prstGeom>
          <a:solidFill>
            <a:srgbClr val="45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952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📐  Segmentation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595120"/>
            <a:ext cx="53583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Dice Score — per-class &amp; mean (target &gt; 0.90)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Jaccard / IoU — intersection over union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HD95 — 95th percentile Hausdorff Distance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ASD — Average Surface Distance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Precision, Recall, 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54680"/>
            <a:ext cx="5577840" cy="160020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5577840" cy="355600"/>
          </a:xfrm>
          <a:prstGeom prst="rect">
            <a:avLst/>
          </a:prstGeom>
          <a:solidFill>
            <a:srgbClr val="95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548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🏥  Classification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561080"/>
            <a:ext cx="53583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Disease classification accuracy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Macro F1 score across 7 classes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Per-class AUC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Severity estimation MAE +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669280" cy="146304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5669280" cy="355600"/>
          </a:xfrm>
          <a:prstGeom prst="rect">
            <a:avLst/>
          </a:prstGeom>
          <a:solidFill>
            <a:srgbClr val="1AC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39520"/>
            <a:ext cx="5486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🔬  Inference (TTA)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595120"/>
            <a:ext cx="544982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Test-Time Augmentation — 3 flip combinations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Threshold: 0.5 on softmax probabilities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Batch size 1 for production 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788920"/>
            <a:ext cx="5669280" cy="173736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788920"/>
            <a:ext cx="5669280" cy="355600"/>
          </a:xfrm>
          <a:prstGeom prst="rect">
            <a:avLst/>
          </a:prstGeom>
          <a:solidFill>
            <a:srgbClr val="FFA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839720"/>
            <a:ext cx="5486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💾  Output Artifacts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195320"/>
            <a:ext cx="54498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Segmentation mask (.npy / .mha)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Segmentation overlay PNG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Grad-CAM heatmap PNG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Structured JSON results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Clinical PDF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</a:rPr>
              <a:t>Disease Classes: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749808" cy="256032"/>
          </a:xfrm>
          <a:prstGeom prst="rect">
            <a:avLst/>
          </a:prstGeom>
          <a:solidFill>
            <a:srgbClr val="10283C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519176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Normal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5296" y="5166360"/>
            <a:ext cx="1531620" cy="256032"/>
          </a:xfrm>
          <a:prstGeom prst="rect">
            <a:avLst/>
          </a:prstGeom>
          <a:solidFill>
            <a:srgbClr val="2828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5191760"/>
            <a:ext cx="15316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Disc Herniation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66644" y="5166360"/>
            <a:ext cx="1097280" cy="256032"/>
          </a:xfrm>
          <a:prstGeom prst="rect">
            <a:avLst/>
          </a:prstGeom>
          <a:solidFill>
            <a:srgbClr val="2828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1508" y="5191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Disc Bulge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73652" y="5166360"/>
            <a:ext cx="1531620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28516" y="5191760"/>
            <a:ext cx="15316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Spinal Stenosis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5166360"/>
            <a:ext cx="489204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9864" y="5191760"/>
            <a:ext cx="4892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DDD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3932" y="5166360"/>
            <a:ext cx="1705356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68796" y="5191760"/>
            <a:ext cx="17053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Spondylolisthesis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29016" y="5166360"/>
            <a:ext cx="1965960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5191760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Compression Fracture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FastAPI Backend &amp;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760720" cy="411480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🔌  REST API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00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3852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385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/auth/register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938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Register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27685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7685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/auth/login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2768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Get JWT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61518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6151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/predict/upload-mri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615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Upload &amp; predict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95351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29535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/predict/segment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9535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Segmentation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918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291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/patients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List patients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3016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6301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/reports/download/{id}/pdf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630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Download 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6849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96849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/analytics/summary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9684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Dashboard stats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3068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3068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/health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43068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Health check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188720"/>
            <a:ext cx="5577840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1188720"/>
            <a:ext cx="5577840" cy="355600"/>
          </a:xfrm>
          <a:prstGeom prst="rect">
            <a:avLst/>
          </a:prstGeom>
          <a:solidFill>
            <a:srgbClr val="95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123952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🗄  Database Schema (PostgreSQL)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1595120"/>
            <a:ext cx="53583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Users — roles: admin, radiologist, clinician, researcher, viewer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Patients — demographics, medical history (JSON)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Studies — MRI metadata, modality, status lifecycle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Predictions — seg paths, Dice, disease, severity, levels, Grad-CAM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Reports — findings, impression, PDF path, review workflow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AuditLogs — HIPAA-style action tracking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520440"/>
            <a:ext cx="5577840" cy="169164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3520440"/>
            <a:ext cx="5577840" cy="355600"/>
          </a:xfrm>
          <a:prstGeom prst="rect">
            <a:avLst/>
          </a:prstGeom>
          <a:solidFill>
            <a:srgbClr val="1AC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357124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🔐  Security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3926840"/>
            <a:ext cx="5358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JWT authentication (HS256, 60-min expiry)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bcrypt password hashing (passlib)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Role-based access control (5 roles)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Async SQLAlchemy + asyncpg connection pool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Next.js 14 Clinical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📱  Pages &amp; Routes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00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842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/auth/login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9842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JWT login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682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/dashboard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6829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Analytics overview &amp;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7523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/upload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5234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Drag-drop MRI upload, inline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363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</a:rPr>
              <a:t>/patients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1363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Patient CRUD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520440"/>
            <a:ext cx="5577840" cy="169164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520440"/>
            <a:ext cx="5577840" cy="355600"/>
          </a:xfrm>
          <a:prstGeom prst="rect">
            <a:avLst/>
          </a:prstGeom>
          <a:solidFill>
            <a:srgbClr val="FFA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7124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🧰  Tech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3926840"/>
            <a:ext cx="5358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Next.js 14  ·  TypeScript  ·  App Router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Tailwind CSS — utility-first styling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Zustand — lightweight auth state management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Full TypeScript API client (src/lib/api.ts)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188720"/>
            <a:ext cx="5669280" cy="219456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188720"/>
            <a:ext cx="5669280" cy="355600"/>
          </a:xfrm>
          <a:prstGeom prst="rect">
            <a:avLst/>
          </a:prstGeom>
          <a:solidFill>
            <a:srgbClr val="1AC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239520"/>
            <a:ext cx="5486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🔧  Frontend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1595120"/>
            <a:ext cx="544982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Drag-and-drop MRI upload (MHA/NIfTI/DICOM/PNG)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Real-time prediction results display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Segmentation overlay &amp; Grad-CAM viewer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Disease classification confidence bars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PDF report download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Analytics charts &amp; summary dashboard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520440"/>
            <a:ext cx="5669280" cy="169164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520440"/>
            <a:ext cx="5669280" cy="355600"/>
          </a:xfrm>
          <a:prstGeom prst="rect">
            <a:avLst/>
          </a:prstGeom>
          <a:solidFill>
            <a:srgbClr val="95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571240"/>
            <a:ext cx="5486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🌐  API Client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3926840"/>
            <a:ext cx="544982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Type-safe api.ts covers all backend endpoints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Zustand authStore manages JWT token lifecycle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Axios-based with automatic auth headers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Error handling &amp; loading states built-in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12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Docker Micro-services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828800" cy="192024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B82F6"/>
                </a:solidFill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Nginx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84831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Reverse proxy
Port 80 · SSL termination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1188720"/>
            <a:ext cx="1828800" cy="1920240"/>
          </a:xfrm>
          <a:prstGeom prst="rect">
            <a:avLst/>
          </a:prstGeom>
          <a:solidFill>
            <a:srgbClr val="0E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5CF6"/>
                </a:solidFill>
              </a:rPr>
              <a:t>⚛️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084831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Next.js · Port 3000
Production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188720"/>
            <a:ext cx="1828800" cy="192024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0B981"/>
                </a:solidFill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084831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FastAPI / Uvicorn
Port 8000 · 4 workers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188720"/>
            <a:ext cx="1828800" cy="192024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59E0B"/>
                </a:solidFill>
              </a:rPr>
              <a:t>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84831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5432
Pool size 10 · max overflow 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188720"/>
            <a:ext cx="1828800" cy="1920240"/>
          </a:xfrm>
          <a:prstGeom prst="rect">
            <a:avLst/>
          </a:prstGeom>
          <a:solidFill>
            <a:srgbClr val="0E18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F4444"/>
                </a:solidFill>
              </a:rPr>
              <a:t>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084831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Port 6379
Cache + Celery task queue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78440" y="1188720"/>
            <a:ext cx="1828800" cy="1920240"/>
          </a:xfrm>
          <a:prstGeom prst="rect">
            <a:avLst/>
          </a:prstGeom>
          <a:solidFill>
            <a:srgbClr val="0E182E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78440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6B6D4"/>
                </a:solidFill>
              </a:rPr>
              <a:t>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1719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ONNX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2084831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Optimized inference
scripts/export_onnx.py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37560"/>
            <a:ext cx="11567160" cy="1828800"/>
          </a:xfrm>
          <a:prstGeom prst="rect">
            <a:avLst/>
          </a:prstGeom>
          <a:solidFill>
            <a:srgbClr val="060D18"/>
          </a:solidFill>
          <a:ln w="12700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429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docker-compose up --build -d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840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Frontend: http://localhost:3000     API Docs: http://localhost:8000/docs     Health: http://localhost:8000/health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206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Backend only:  docker-compose up backend db redis -d     •     Logs:  docker-compose logs -f backend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13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RESEARCH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Based On &amp; Extends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760720" cy="3474720"/>
          </a:xfrm>
          <a:prstGeom prst="rect">
            <a:avLst/>
          </a:prstGeom>
          <a:solidFill>
            <a:srgbClr val="0E182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📚  Prior 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6002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4767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Swin UNETR (Liu 2021)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9476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Image backbone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Bio-ClinicalBERT (2019)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2951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Text 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4261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Attention U-Net (Oktay 2018)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6426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Attention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9008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Boundary Loss (Kervadec 2019)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9900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Seg. loss term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375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Focal Loss (Lin 2017)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3375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Class imbalance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85032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GradCAM (Selvaraju 2017)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6850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Explainability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3250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B82F6"/>
                </a:solidFill>
              </a:rPr>
              <a:t>ATM-Net (base model)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0325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Anatomy-text guidance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188720"/>
            <a:ext cx="5577840" cy="2103120"/>
          </a:xfrm>
          <a:prstGeom prst="rect">
            <a:avLst/>
          </a:prstGeom>
          <a:solidFill>
            <a:srgbClr val="0E18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188720"/>
            <a:ext cx="5577840" cy="355600"/>
          </a:xfrm>
          <a:prstGeom prst="rect">
            <a:avLst/>
          </a:prstGeom>
          <a:solidFill>
            <a:srgbClr val="1AC3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23952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🔑  Key Python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1595120"/>
            <a:ext cx="53583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PyTorch 2.3  ·  MONAI 1.3  ·  Transformers 4.40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FastAPI 0.111  ·  SQLAlchemy 2.0  ·  asyncpg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SimpleITK 2.3  ·  OpenCV 4.9  ·  Albumentations 1.4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ReportLab 4.1  ·  WandB 0.17  ·  TorchMetrics 1.4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Celery 5.4  ·  Redis  ·  Hydra/OmegaConf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429000"/>
            <a:ext cx="5577840" cy="1645920"/>
          </a:xfrm>
          <a:prstGeom prst="rect">
            <a:avLst/>
          </a:prstGeom>
          <a:solidFill>
            <a:srgbClr val="0E18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429000"/>
            <a:ext cx="5577840" cy="355600"/>
          </a:xfrm>
          <a:prstGeom prst="rect">
            <a:avLst/>
          </a:prstGeom>
          <a:solidFill>
            <a:srgbClr val="FFA8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479800"/>
            <a:ext cx="5394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🖥  Hardware Requirements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835400"/>
            <a:ext cx="53583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Python 3.10+  ·  Node.js 20+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8 GB+ RAM (16 GB+ recommended for training)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GPU optional for inference, required for fast training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Docker + Docker Compose for full stack 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00600"/>
            <a:ext cx="5760720" cy="1371600"/>
          </a:xfrm>
          <a:prstGeom prst="rect">
            <a:avLst/>
          </a:prstGeom>
          <a:solidFill>
            <a:srgbClr val="0E18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800600"/>
            <a:ext cx="5760720" cy="355600"/>
          </a:xfrm>
          <a:prstGeom prst="rect">
            <a:avLst/>
          </a:prstGeom>
          <a:solidFill>
            <a:srgbClr val="F94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851400"/>
            <a:ext cx="5577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⚠️  License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5207000"/>
            <a:ext cx="5541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2E8F0"/>
                </a:solidFill>
              </a:rPr>
              <a:t>• Research use only.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NOT for clinical deployment without additional</a:t>
            </a:r>
          </a:p>
          <a:p>
            <a:pPr algn="l"/>
            <a:r>
              <a:rPr sz="1200">
                <a:solidFill>
                  <a:srgbClr val="E2E8F0"/>
                </a:solidFill>
              </a:rPr>
              <a:t>• validation and regulatory approval.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4476" cy="7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4476" y="0"/>
            <a:ext cx="6094476" cy="76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83112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14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Quick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1463040"/>
          </a:xfrm>
          <a:prstGeom prst="rect">
            <a:avLst/>
          </a:prstGeom>
          <a:solidFill>
            <a:srgbClr val="060D1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618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① Install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7276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pip install -r requirements.txt
cd frontend &amp;&amp; npm install &amp;&amp; cd 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5577840" cy="1463040"/>
          </a:xfrm>
          <a:prstGeom prst="rect">
            <a:avLst/>
          </a:prstGeom>
          <a:solidFill>
            <a:srgbClr val="060D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9077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② Configure &amp; set up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21868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copy .env.example .env
# Edit SECRET_KEY and DB settings
python scripts/setup_data.py \
  --source "C:\project\Spine Segmentation\10159290"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577840" cy="1463040"/>
          </a:xfrm>
          <a:prstGeom prst="rect">
            <a:avLst/>
          </a:prstGeom>
          <a:solidFill>
            <a:srgbClr val="060D1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2618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③ Launch full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57276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docker-compose up --build
# Frontend  → http://localhost:3000
# API docs  → http://localhost:8000/docs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34640"/>
            <a:ext cx="5577840" cy="1463040"/>
          </a:xfrm>
          <a:prstGeom prst="rect">
            <a:avLst/>
          </a:prstGeom>
          <a:solidFill>
            <a:srgbClr val="060D18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9077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④ Train &amp; run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218688"/>
            <a:ext cx="5349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python training/train.py \
  --config configs/base_config.yaml
python scripts/run_inference.py \
  --image data/.../100_t2.mha \
  --checkpoint checkpoints/best.pth \
  --save-report outputs/report.pdf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309360"/>
            <a:ext cx="1879091" cy="256032"/>
          </a:xfrm>
          <a:prstGeom prst="rect">
            <a:avLst/>
          </a:prstGeom>
          <a:solidFill>
            <a:srgbClr val="10283C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6334760"/>
            <a:ext cx="18790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✔ Full Docker 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7731" y="6309360"/>
            <a:ext cx="2139696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2595" y="633476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</a:rPr>
              <a:t>✔ Interactive API docs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0307" y="6309360"/>
            <a:ext cx="1879091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5171" y="6334760"/>
            <a:ext cx="18790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✔ W&amp;B + TensorBoard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78" y="6309360"/>
            <a:ext cx="1879091" cy="256032"/>
          </a:xfrm>
          <a:prstGeom prst="rect">
            <a:avLst/>
          </a:prstGeom>
          <a:solidFill>
            <a:srgbClr val="28280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67142" y="6334760"/>
            <a:ext cx="187909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✔ ONNX export 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74249" y="6309360"/>
            <a:ext cx="2400300" cy="256032"/>
          </a:xfrm>
          <a:prstGeom prst="rect">
            <a:avLst/>
          </a:prstGeom>
          <a:solidFill>
            <a:srgbClr val="28283C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29113" y="6334760"/>
            <a:ext cx="24003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✔ pytest unit+integration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